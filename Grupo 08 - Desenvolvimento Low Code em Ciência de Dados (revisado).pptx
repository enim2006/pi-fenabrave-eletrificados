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6" r:id="rId3"/>
    <p:sldId id="267" r:id="rId4"/>
    <p:sldId id="268" r:id="rId5"/>
    <p:sldId id="269" r:id="rId6"/>
    <p:sldId id="273" r:id="rId23"/>
    <p:sldId id="274" r:id="rId24"/>
    <p:sldId id="275" r:id="rId25"/>
    <p:sldId id="276" r:id="rId26"/>
    <p:sldId id="277" r:id="rId27"/>
    <p:sldId id="278" r:id="rId28"/>
    <p:sldId id="270" r:id="rId7"/>
    <p:sldId id="272" r:id="rId8"/>
  </p:sldIdLst>
  <p:sldSz cx="9906000" cy="6858000" type="A4"/>
  <p:notesSz cx="9906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17" roundtripDataSignature="AMtx7mhlv5T8aM92caCDIs/zR8gFxBAD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C2BC70-FFFC-6F55-0932-29FA96B32F8F}" v="49" dt="2026-09-20T01:40:42.057"/>
    <p1510:client id="{7DECB1E2-34B5-918F-8300-7D4BC937EC48}" v="13" dt="2026-09-20T01:40:37.889"/>
    <p1510:client id="{FBE4E38D-3B80-4FF7-9C99-983826CA285F}" v="244" dt="2026-09-19T21:11:46.112"/>
  </p1510:revLst>
</p1510:revInfo>
</file>

<file path=ppt/tableStyles.xml><?xml version="1.0" encoding="utf-8"?>
<a:tblStyleLst xmlns:a="http://schemas.openxmlformats.org/drawingml/2006/main" def="{FDE4022D-E003-4866-9280-1DC36AB90B6A}">
  <a:tblStyle styleId="{FDE4022D-E003-4866-9280-1DC36AB90B6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22" Type="http://schemas.microsoft.com/office/2015/10/relationships/revisionInfo" Target="revisionInfo.xml"/>  <Relationship Id="rId23" Type="http://schemas.openxmlformats.org/officeDocument/2006/relationships/slide" Target="slides/slide8.xml"/>
  <Relationship Id="rId24" Type="http://schemas.openxmlformats.org/officeDocument/2006/relationships/slide" Target="slides/slide9.xml"/>
  <Relationship Id="rId25" Type="http://schemas.openxmlformats.org/officeDocument/2006/relationships/slide" Target="slides/slide10.xml"/>
  <Relationship Id="rId26" Type="http://schemas.openxmlformats.org/officeDocument/2006/relationships/slide" Target="slides/slide11.xml"/>
  <Relationship Id="rId27" Type="http://schemas.openxmlformats.org/officeDocument/2006/relationships/slide" Target="slides/slide12.xml"/>
  <Relationship Id="rId28" Type="http://schemas.openxmlformats.org/officeDocument/2006/relationships/slide" Target="slides/slide13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51325" y="514350"/>
            <a:ext cx="6604325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95625" y="514350"/>
            <a:ext cx="371475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E8D08868-04DF-808E-C0F0-7583DA53D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>
            <a:extLst>
              <a:ext uri="{FF2B5EF4-FFF2-40B4-BE49-F238E27FC236}">
                <a16:creationId xmlns:a16="http://schemas.microsoft.com/office/drawing/2014/main" id="{57AE5BB9-6F9F-5062-C591-5EBF40E397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>
            <a:extLst>
              <a:ext uri="{FF2B5EF4-FFF2-40B4-BE49-F238E27FC236}">
                <a16:creationId xmlns:a16="http://schemas.microsoft.com/office/drawing/2014/main" id="{6EE11ADA-B291-71F9-9653-FAA7F69C15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95625" y="514350"/>
            <a:ext cx="371475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8794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F51D9D0A-C760-FCB8-787B-4418F0CBE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>
            <a:extLst>
              <a:ext uri="{FF2B5EF4-FFF2-40B4-BE49-F238E27FC236}">
                <a16:creationId xmlns:a16="http://schemas.microsoft.com/office/drawing/2014/main" id="{8ED6857E-92DF-57E0-C0E9-BC7B05233D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>
            <a:extLst>
              <a:ext uri="{FF2B5EF4-FFF2-40B4-BE49-F238E27FC236}">
                <a16:creationId xmlns:a16="http://schemas.microsoft.com/office/drawing/2014/main" id="{E80795FE-A28E-77C9-85AD-56E2A795D5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95625" y="514350"/>
            <a:ext cx="371475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3164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BDB6CF9B-970E-4667-95D3-ADD00FD14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>
            <a:extLst>
              <a:ext uri="{FF2B5EF4-FFF2-40B4-BE49-F238E27FC236}">
                <a16:creationId xmlns:a16="http://schemas.microsoft.com/office/drawing/2014/main" id="{8CE6711B-9F34-85DD-29A5-3FA9995891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>
            <a:extLst>
              <a:ext uri="{FF2B5EF4-FFF2-40B4-BE49-F238E27FC236}">
                <a16:creationId xmlns:a16="http://schemas.microsoft.com/office/drawing/2014/main" id="{B979DBC1-E817-5EAE-423E-14B48D25A2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95625" y="514350"/>
            <a:ext cx="371475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9585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EAC352C4-07F7-CA3D-5099-40D5ED96B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>
            <a:extLst>
              <a:ext uri="{FF2B5EF4-FFF2-40B4-BE49-F238E27FC236}">
                <a16:creationId xmlns:a16="http://schemas.microsoft.com/office/drawing/2014/main" id="{733BC8A7-9D3B-B0B8-F018-F7ABFDAE30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>
            <a:extLst>
              <a:ext uri="{FF2B5EF4-FFF2-40B4-BE49-F238E27FC236}">
                <a16:creationId xmlns:a16="http://schemas.microsoft.com/office/drawing/2014/main" id="{56C31E30-AC53-A1CB-AD4E-93BE728ECF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95625" y="514350"/>
            <a:ext cx="371475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4564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8D9D2570-A63B-3184-0E02-26E220C00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>
            <a:extLst>
              <a:ext uri="{FF2B5EF4-FFF2-40B4-BE49-F238E27FC236}">
                <a16:creationId xmlns:a16="http://schemas.microsoft.com/office/drawing/2014/main" id="{7936A51B-21DB-2F9E-BC18-D076D4751A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>
            <a:extLst>
              <a:ext uri="{FF2B5EF4-FFF2-40B4-BE49-F238E27FC236}">
                <a16:creationId xmlns:a16="http://schemas.microsoft.com/office/drawing/2014/main" id="{5675BB2A-48C3-2EBC-64DB-90E3D5E7D1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95625" y="514350"/>
            <a:ext cx="371475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9329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7FE92C00-CC70-E8F7-A2FB-AEB334695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>
            <a:extLst>
              <a:ext uri="{FF2B5EF4-FFF2-40B4-BE49-F238E27FC236}">
                <a16:creationId xmlns:a16="http://schemas.microsoft.com/office/drawing/2014/main" id="{AAEC7D32-3884-5086-A71D-484C46684A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>
            <a:extLst>
              <a:ext uri="{FF2B5EF4-FFF2-40B4-BE49-F238E27FC236}">
                <a16:creationId xmlns:a16="http://schemas.microsoft.com/office/drawing/2014/main" id="{0C60C418-B8E2-CFAF-B0C9-291B83F364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95625" y="514350"/>
            <a:ext cx="371475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1464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 txBox="1">
            <a:spLocks noGrp="1"/>
          </p:cNvSpPr>
          <p:nvPr>
            <p:ph type="title"/>
          </p:nvPr>
        </p:nvSpPr>
        <p:spPr>
          <a:xfrm>
            <a:off x="526795" y="483018"/>
            <a:ext cx="7949438" cy="82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body" idx="1"/>
          </p:nvPr>
        </p:nvSpPr>
        <p:spPr>
          <a:xfrm>
            <a:off x="661034" y="1680717"/>
            <a:ext cx="8583930" cy="357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sng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ldNum" idx="12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ubTitle" idx="1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sng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ftr" idx="11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dt" idx="10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sldNum" idx="12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>
            <a:spLocks noGrp="1"/>
          </p:cNvSpPr>
          <p:nvPr>
            <p:ph type="title"/>
          </p:nvPr>
        </p:nvSpPr>
        <p:spPr>
          <a:xfrm>
            <a:off x="526795" y="483018"/>
            <a:ext cx="7949438" cy="82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ftr" idx="11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dt" idx="10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ftr" idx="11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dt" idx="10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9906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1"/>
          <p:cNvSpPr txBox="1">
            <a:spLocks noGrp="1"/>
          </p:cNvSpPr>
          <p:nvPr>
            <p:ph type="title"/>
          </p:nvPr>
        </p:nvSpPr>
        <p:spPr>
          <a:xfrm>
            <a:off x="526795" y="483018"/>
            <a:ext cx="7949438" cy="82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body" idx="1"/>
          </p:nvPr>
        </p:nvSpPr>
        <p:spPr>
          <a:xfrm>
            <a:off x="661034" y="1680717"/>
            <a:ext cx="8583930" cy="357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sng" strike="noStrike" cap="none">
                <a:solidFill>
                  <a:srgbClr val="00999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dt" idx="10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sldNum" idx="12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nnbrasil.com.br/auto/venda-de-eletrificados-cresce-6-vezes-mais-que-o-mercado-automotivo/" TargetMode="External"/><Relationship Id="rId3" Type="http://schemas.openxmlformats.org/officeDocument/2006/relationships/hyperlink" Target="https://www.abve.org.br/2020-o-melhor-ano-da-eletromobilidade-no-brasil/" TargetMode="External"/><Relationship Id="rId7" Type="http://schemas.openxmlformats.org/officeDocument/2006/relationships/hyperlink" Target="https://diariodopoder.com.br/diario-motor/emplacamentos-de-veiculos-eletrificados-crescem-mais-de-25-em-2025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enabrave.org.br/portalv2/Conteudo/emplacamentos" TargetMode="External"/><Relationship Id="rId5" Type="http://schemas.openxmlformats.org/officeDocument/2006/relationships/hyperlink" Target="https://www.vrum.com.br/noticias/emplacamentos-hibridos-eletricos-2022/" TargetMode="External"/><Relationship Id="rId10" Type="http://schemas.openxmlformats.org/officeDocument/2006/relationships/image" Target="../media/image2.png"/><Relationship Id="rId4" Type="http://schemas.openxmlformats.org/officeDocument/2006/relationships/hyperlink" Target="https://abve.org.br/abve-data/" TargetMode="External"/><Relationship Id="rId9" Type="http://schemas.openxmlformats.org/officeDocument/2006/relationships/image" Target="../media/image3.pn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78101" y="221122"/>
            <a:ext cx="11049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7;p1">
            <a:extLst>
              <a:ext uri="{FF2B5EF4-FFF2-40B4-BE49-F238E27FC236}">
                <a16:creationId xmlns:a16="http://schemas.microsoft.com/office/drawing/2014/main" id="{8232442F-9D78-477A-3BB3-E502FCA0752B}"/>
              </a:ext>
            </a:extLst>
          </p:cNvPr>
          <p:cNvSpPr txBox="1">
            <a:spLocks/>
          </p:cNvSpPr>
          <p:nvPr/>
        </p:nvSpPr>
        <p:spPr>
          <a:xfrm>
            <a:off x="450000" y="1286305"/>
            <a:ext cx="9006000" cy="1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5000"/>
              </a:lnSpc>
            </a:pPr>
            <a:r>
              <a:rPr lang="pt-BR" sz="3600" b="1">
                <a:solidFill>
                  <a:srgbClr val="1B4582"/>
                </a:solidFill>
              </a:rPr>
              <a:t>Análise Descritiva Sobre Veículos Automotores Elétricos e Híbridos</a:t>
            </a:r>
            <a:endParaRPr lang="pt-BR" sz="1000"/>
          </a:p>
        </p:txBody>
      </p:sp>
      <p:sp>
        <p:nvSpPr>
          <p:cNvPr id="20" name="Kicker Autores"/>
          <p:cNvSpPr txBox="1"/>
          <p:nvPr/>
        </p:nvSpPr>
        <p:spPr>
          <a:xfrm>
            <a:off x="449999" y="2800432"/>
            <a:ext cx="9006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sz="1400" b="1" spc="200">
                <a:solidFill>
                  <a:srgbClr val="C9962C"/>
                </a:solidFill>
                <a:latin typeface="Calibri"/>
                <a:cs typeface="Calibri"/>
              </a:rPr>
              <a:t>AUTORES</a:t>
            </a:r>
          </a:p>
        </p:txBody>
      </p:sp>
      <p:sp>
        <p:nvSpPr>
          <p:cNvPr id="21" name="Autores Coluna 1"/>
          <p:cNvSpPr txBox="1"/>
          <p:nvPr/>
        </p:nvSpPr>
        <p:spPr>
          <a:xfrm>
            <a:off x="823001" y="3306262"/>
            <a:ext cx="393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45700" tIns="0" rIns="45700" bIns="0" anchor="t">
            <a:noAutofit/>
          </a:bodyPr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</a:pPr>
            <a:r>
              <a:rPr lang="pt-BR" sz="1600" b="0" u="none">
                <a:solidFill>
                  <a:srgbClr val="404040"/>
                </a:solidFill>
                <a:latin typeface="+mj-lt"/>
                <a:cs typeface="Calibri"/>
              </a:rPr>
              <a:t>Anderson Renan Fontes Amaral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</a:pPr>
            <a:r>
              <a:rPr lang="pt-BR" sz="1600" b="0" u="none">
                <a:solidFill>
                  <a:srgbClr val="404040"/>
                </a:solidFill>
                <a:latin typeface="+mj-lt"/>
                <a:cs typeface="Calibri"/>
              </a:rPr>
              <a:t>Erick Alexandre Nimtz</a:t>
            </a:r>
          </a:p>
          <a:p>
            <a:pPr algn="ctr">
              <a:spcAft>
                <a:spcPts val="1200"/>
              </a:spcAft>
            </a:pPr>
            <a:r>
              <a:rPr lang="pt-BR" sz="1600">
                <a:solidFill>
                  <a:srgbClr val="404040"/>
                </a:solidFill>
                <a:cs typeface="Calibri"/>
              </a:rPr>
              <a:t>Felipe Soares Ribeiro Santos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</a:pPr>
            <a:endParaRPr lang="pt-BR" sz="1600" b="0" u="none">
              <a:solidFill>
                <a:srgbClr val="404040"/>
              </a:solidFill>
              <a:latin typeface="+mj-lt"/>
              <a:cs typeface="Calibri"/>
            </a:endParaRPr>
          </a:p>
        </p:txBody>
      </p:sp>
      <p:sp>
        <p:nvSpPr>
          <p:cNvPr id="22" name="Autores Coluna 2"/>
          <p:cNvSpPr txBox="1"/>
          <p:nvPr/>
        </p:nvSpPr>
        <p:spPr>
          <a:xfrm>
            <a:off x="5153001" y="3314559"/>
            <a:ext cx="393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45700" tIns="0" rIns="45700" bIns="0" anchor="t">
            <a:noAutofit/>
          </a:bodyPr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</a:pPr>
            <a:r>
              <a:rPr lang="pt-BR" sz="1600" b="0" u="none">
                <a:solidFill>
                  <a:srgbClr val="404040"/>
                </a:solidFill>
                <a:latin typeface="+mj-lt"/>
                <a:cs typeface="Calibri"/>
              </a:rPr>
              <a:t>Gustavo Coelho Garcia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</a:pPr>
            <a:r>
              <a:rPr lang="pt-BR" sz="1600" b="0" u="none">
                <a:solidFill>
                  <a:srgbClr val="404040"/>
                </a:solidFill>
                <a:latin typeface="+mj-lt"/>
                <a:cs typeface="Calibri"/>
              </a:rPr>
              <a:t>Ismael Goulart Corrêa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8A4D5BD-0033-3A9C-2AAE-C0FFFAFE3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019" y="6364255"/>
            <a:ext cx="9211961" cy="466790"/>
          </a:xfrm>
          <a:prstGeom prst="rect">
            <a:avLst/>
          </a:prstGeom>
        </p:spPr>
      </p:pic>
      <p:sp>
        <p:nvSpPr>
          <p:cNvPr id="6" name="Kicker Autores">
            <a:extLst>
              <a:ext uri="{FF2B5EF4-FFF2-40B4-BE49-F238E27FC236}">
                <a16:creationId xmlns:a16="http://schemas.microsoft.com/office/drawing/2014/main" id="{3DC10FF2-A83E-7397-A8B3-CDFFA16B2DC4}"/>
              </a:ext>
            </a:extLst>
          </p:cNvPr>
          <p:cNvSpPr txBox="1"/>
          <p:nvPr/>
        </p:nvSpPr>
        <p:spPr>
          <a:xfrm>
            <a:off x="449999" y="4583098"/>
            <a:ext cx="9006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BR" sz="1400" b="1" spc="200">
                <a:solidFill>
                  <a:srgbClr val="C9962C"/>
                </a:solidFill>
                <a:latin typeface="Calibri"/>
                <a:cs typeface="Calibri"/>
              </a:rPr>
              <a:t>Docentes</a:t>
            </a:r>
          </a:p>
        </p:txBody>
      </p:sp>
      <p:sp>
        <p:nvSpPr>
          <p:cNvPr id="9" name="Autores Coluna 1">
            <a:extLst>
              <a:ext uri="{FF2B5EF4-FFF2-40B4-BE49-F238E27FC236}">
                <a16:creationId xmlns:a16="http://schemas.microsoft.com/office/drawing/2014/main" id="{0BE3F4C3-7BAB-9B97-D471-E4C4D72D6350}"/>
              </a:ext>
            </a:extLst>
          </p:cNvPr>
          <p:cNvSpPr txBox="1"/>
          <p:nvPr/>
        </p:nvSpPr>
        <p:spPr>
          <a:xfrm>
            <a:off x="2987998" y="5023676"/>
            <a:ext cx="4341949" cy="972040"/>
          </a:xfrm>
          <a:prstGeom prst="rect">
            <a:avLst/>
          </a:prstGeom>
          <a:noFill/>
          <a:ln>
            <a:noFill/>
          </a:ln>
        </p:spPr>
        <p:txBody>
          <a:bodyPr wrap="square" lIns="45700" tIns="0" rIns="45700" bIns="0" anchor="t">
            <a:noAutofit/>
          </a:bodyPr>
          <a:lstStyle/>
          <a:p>
            <a:pPr algn="ctr">
              <a:spcAft>
                <a:spcPts val="1200"/>
              </a:spcAft>
            </a:pPr>
            <a:r>
              <a:rPr lang="pt-BR" sz="1600">
                <a:solidFill>
                  <a:srgbClr val="404040"/>
                </a:solidFill>
                <a:latin typeface="+mj-lt"/>
                <a:cs typeface="Calibri"/>
              </a:rPr>
              <a:t>Professor: Leandro da Conceição Cardoso</a:t>
            </a:r>
          </a:p>
          <a:p>
            <a:pPr algn="ctr">
              <a:spcAft>
                <a:spcPts val="1200"/>
              </a:spcAft>
            </a:pPr>
            <a:r>
              <a:rPr lang="pt-BR" sz="1600">
                <a:solidFill>
                  <a:srgbClr val="404040"/>
                </a:solidFill>
                <a:latin typeface="+mj-lt"/>
                <a:cs typeface="Calibri"/>
              </a:rPr>
              <a:t>Tutor: José Júlio </a:t>
            </a:r>
            <a:r>
              <a:rPr lang="pt-BR" sz="1600" err="1">
                <a:solidFill>
                  <a:srgbClr val="404040"/>
                </a:solidFill>
                <a:latin typeface="+mj-lt"/>
                <a:cs typeface="Calibri"/>
              </a:rPr>
              <a:t>Redugelo</a:t>
            </a:r>
            <a:r>
              <a:rPr lang="pt-BR" sz="1600">
                <a:solidFill>
                  <a:srgbClr val="404040"/>
                </a:solidFill>
                <a:latin typeface="+mj-lt"/>
                <a:cs typeface="Calibri"/>
              </a:rPr>
              <a:t> de Melo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EB4D7531-F121-4B40-AC12-5383A8E1A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44;p1">
            <a:extLst>
              <a:ext uri="{FF2B5EF4-FFF2-40B4-BE49-F238E27FC236}">
                <a16:creationId xmlns:a16="http://schemas.microsoft.com/office/drawing/2014/main" id="{FB4228A1-5B6E-D396-9C8D-178CCE7D7B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67027" y="2126404"/>
            <a:ext cx="7533131" cy="2043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fontAlgn="t">
              <a:lnSpc>
                <a:spcPct val="150000"/>
              </a:lnSpc>
            </a:pPr>
            <a:r>
              <a:rPr lang="pt-BR" sz="2200" b="0">
                <a:solidFill>
                  <a:schemeClr val="tx1"/>
                </a:solidFill>
              </a:rPr>
              <a:t>O projeto analisa a evolução e a participação dos </a:t>
            </a:r>
            <a:r>
              <a:rPr lang="pt-BR" sz="2200">
                <a:solidFill>
                  <a:schemeClr val="bg2"/>
                </a:solidFill>
              </a:rPr>
              <a:t>veículos elétricos</a:t>
            </a:r>
            <a:r>
              <a:rPr lang="pt-BR" sz="2200" b="0">
                <a:solidFill>
                  <a:schemeClr val="bg2"/>
                </a:solidFill>
              </a:rPr>
              <a:t> </a:t>
            </a:r>
            <a:r>
              <a:rPr lang="pt-BR" sz="2200">
                <a:solidFill>
                  <a:schemeClr val="bg2"/>
                </a:solidFill>
              </a:rPr>
              <a:t>e híbridos </a:t>
            </a:r>
            <a:r>
              <a:rPr lang="pt-BR" sz="2200" b="0">
                <a:solidFill>
                  <a:schemeClr val="tx1"/>
                </a:solidFill>
              </a:rPr>
              <a:t>no </a:t>
            </a:r>
            <a:r>
              <a:rPr lang="pt-BR" sz="2200">
                <a:solidFill>
                  <a:schemeClr val="bg2"/>
                </a:solidFill>
              </a:rPr>
              <a:t>mercado brasileiro de veículos novos</a:t>
            </a:r>
            <a:r>
              <a:rPr lang="pt-BR" sz="2200" b="0">
                <a:solidFill>
                  <a:schemeClr val="tx1"/>
                </a:solidFill>
              </a:rPr>
              <a:t>, considerando diferentes </a:t>
            </a:r>
            <a:r>
              <a:rPr lang="pt-BR" sz="2200">
                <a:solidFill>
                  <a:schemeClr val="bg2"/>
                </a:solidFill>
              </a:rPr>
              <a:t>períodos, segmentos e fabricantes</a:t>
            </a:r>
            <a:r>
              <a:rPr lang="pt-BR" sz="2200">
                <a:solidFill>
                  <a:schemeClr val="tx1"/>
                </a:solidFill>
              </a:rPr>
              <a:t> </a:t>
            </a:r>
            <a:r>
              <a:rPr lang="pt-BR" sz="2200" b="0">
                <a:solidFill>
                  <a:schemeClr val="tx1"/>
                </a:solidFill>
              </a:rPr>
              <a:t>do setor automotivo.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FB2B4A76-1502-A49F-0684-58EC062A6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19" y="6364255"/>
            <a:ext cx="9211961" cy="466790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B1765378-1058-588E-411F-17F74E301873}"/>
              </a:ext>
            </a:extLst>
          </p:cNvPr>
          <p:cNvSpPr txBox="1"/>
          <p:nvPr/>
        </p:nvSpPr>
        <p:spPr>
          <a:xfrm>
            <a:off x="297179" y="1109218"/>
            <a:ext cx="34099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600" b="1">
                <a:solidFill>
                  <a:schemeClr val="bg2"/>
                </a:solidFill>
              </a:rPr>
              <a:t>TEMA DO PROJETO</a:t>
            </a:r>
          </a:p>
          <a:p>
            <a:endParaRPr lang="pt-BR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5F7D2F6A-41DE-57A8-F7E9-2FFFD6A64CCD}"/>
              </a:ext>
            </a:extLst>
          </p:cNvPr>
          <p:cNvCxnSpPr>
            <a:cxnSpLocks/>
          </p:cNvCxnSpPr>
          <p:nvPr/>
        </p:nvCxnSpPr>
        <p:spPr>
          <a:xfrm>
            <a:off x="347019" y="1554601"/>
            <a:ext cx="3492000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1" name="Gráfico 20" descr="Gráfico de barras estrutura de tópicos">
            <a:extLst>
              <a:ext uri="{FF2B5EF4-FFF2-40B4-BE49-F238E27FC236}">
                <a16:creationId xmlns:a16="http://schemas.microsoft.com/office/drawing/2014/main" id="{CFE74B51-17F1-5BF2-11F3-F72148EE8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627" y="2262487"/>
            <a:ext cx="914400" cy="914400"/>
          </a:xfrm>
          <a:prstGeom prst="rect">
            <a:avLst/>
          </a:prstGeom>
        </p:spPr>
      </p:pic>
      <p:grpSp>
        <p:nvGrpSpPr>
          <p:cNvPr id="35" name="Agrupar 34">
            <a:extLst>
              <a:ext uri="{FF2B5EF4-FFF2-40B4-BE49-F238E27FC236}">
                <a16:creationId xmlns:a16="http://schemas.microsoft.com/office/drawing/2014/main" id="{A9EE2C6E-49B4-4934-1A4D-260F9853A889}"/>
              </a:ext>
            </a:extLst>
          </p:cNvPr>
          <p:cNvGrpSpPr/>
          <p:nvPr/>
        </p:nvGrpSpPr>
        <p:grpSpPr>
          <a:xfrm>
            <a:off x="3782999" y="4201699"/>
            <a:ext cx="2340000" cy="540000"/>
            <a:chOff x="3642895" y="4727147"/>
            <a:chExt cx="2645212" cy="622800"/>
          </a:xfrm>
          <a:solidFill>
            <a:srgbClr val="000000">
              <a:alpha val="40000"/>
            </a:srgbClr>
          </a:solidFill>
        </p:grpSpPr>
        <p:pic>
          <p:nvPicPr>
            <p:cNvPr id="24" name="Gráfico 23" descr="Carregamento da bateria estrutura de tópicos">
              <a:extLst>
                <a:ext uri="{FF2B5EF4-FFF2-40B4-BE49-F238E27FC236}">
                  <a16:creationId xmlns:a16="http://schemas.microsoft.com/office/drawing/2014/main" id="{13868AE4-84D8-E5BB-6900-BAF6BA90AE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65307" y="4727147"/>
              <a:ext cx="622800" cy="622800"/>
            </a:xfrm>
            <a:prstGeom prst="rect">
              <a:avLst/>
            </a:prstGeom>
          </p:spPr>
        </p:pic>
        <p:pic>
          <p:nvPicPr>
            <p:cNvPr id="26" name="Gráfico 25" descr="Ônibus estrutura de tópicos">
              <a:extLst>
                <a:ext uri="{FF2B5EF4-FFF2-40B4-BE49-F238E27FC236}">
                  <a16:creationId xmlns:a16="http://schemas.microsoft.com/office/drawing/2014/main" id="{644A6C5B-E558-A5BB-557A-3B1B139B89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17033" y="4727147"/>
              <a:ext cx="622800" cy="622800"/>
            </a:xfrm>
            <a:prstGeom prst="rect">
              <a:avLst/>
            </a:prstGeom>
          </p:spPr>
        </p:pic>
        <p:pic>
          <p:nvPicPr>
            <p:cNvPr id="28" name="Gráfico 27" descr="Caminhão estrutura de tópicos">
              <a:extLst>
                <a:ext uri="{FF2B5EF4-FFF2-40B4-BE49-F238E27FC236}">
                  <a16:creationId xmlns:a16="http://schemas.microsoft.com/office/drawing/2014/main" id="{95056A10-762B-B63D-FFFE-C49DA6BF506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991170" y="4727147"/>
              <a:ext cx="622800" cy="622800"/>
            </a:xfrm>
            <a:prstGeom prst="rect">
              <a:avLst/>
            </a:prstGeom>
          </p:spPr>
        </p:pic>
        <p:pic>
          <p:nvPicPr>
            <p:cNvPr id="32" name="Gráfico 31" descr="Carro elétrico estrutura de tópicos">
              <a:extLst>
                <a:ext uri="{FF2B5EF4-FFF2-40B4-BE49-F238E27FC236}">
                  <a16:creationId xmlns:a16="http://schemas.microsoft.com/office/drawing/2014/main" id="{A486E51C-60CA-AF11-1644-2FE385197F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642895" y="4727147"/>
              <a:ext cx="622800" cy="622800"/>
            </a:xfrm>
            <a:prstGeom prst="rect">
              <a:avLst/>
            </a:prstGeom>
          </p:spPr>
        </p:pic>
      </p:grpSp>
      <p:pic>
        <p:nvPicPr>
          <p:cNvPr id="3" name="Google Shape;45;p1">
            <a:extLst>
              <a:ext uri="{FF2B5EF4-FFF2-40B4-BE49-F238E27FC236}">
                <a16:creationId xmlns:a16="http://schemas.microsoft.com/office/drawing/2014/main" id="{A73027F8-64FF-1120-F0E9-411623D58E9F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978101" y="221122"/>
            <a:ext cx="11049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6993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40000"/>
          </a:schemeClr>
        </a:solidFill>
        <a:effectLst/>
      </p:bgPr>
    </p:bg>
    <p:spTree>
      <p:nvGrpSpPr>
        <p:cNvPr id="1" name="Shape 43">
          <a:extLst>
            <a:ext uri="{FF2B5EF4-FFF2-40B4-BE49-F238E27FC236}">
              <a16:creationId xmlns:a16="http://schemas.microsoft.com/office/drawing/2014/main" id="{4F20418C-9F57-0292-2FF0-DCDE96424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4874CC2-A27A-4225-639C-18DEC2799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19" y="6364255"/>
            <a:ext cx="9211961" cy="46679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11D70E9-EDDC-3348-697A-1A8F46602C0E}"/>
              </a:ext>
            </a:extLst>
          </p:cNvPr>
          <p:cNvSpPr txBox="1"/>
          <p:nvPr/>
        </p:nvSpPr>
        <p:spPr>
          <a:xfrm>
            <a:off x="297179" y="1109218"/>
            <a:ext cx="6333785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BR" sz="2600" b="1">
                <a:solidFill>
                  <a:schemeClr val="bg2"/>
                </a:solidFill>
              </a:rPr>
              <a:t>CONTEXTUALIZAÇÃO DO PROBLEMA</a:t>
            </a:r>
          </a:p>
          <a:p>
            <a:endParaRPr lang="pt-BR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381D3C85-2510-E827-3648-FDDE0DF031DF}"/>
              </a:ext>
            </a:extLst>
          </p:cNvPr>
          <p:cNvCxnSpPr>
            <a:cxnSpLocks/>
          </p:cNvCxnSpPr>
          <p:nvPr/>
        </p:nvCxnSpPr>
        <p:spPr>
          <a:xfrm>
            <a:off x="316539" y="1544441"/>
            <a:ext cx="6314425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9BAB473D-FE83-07E2-443F-3EC482B965A2}"/>
              </a:ext>
            </a:extLst>
          </p:cNvPr>
          <p:cNvSpPr txBox="1"/>
          <p:nvPr/>
        </p:nvSpPr>
        <p:spPr>
          <a:xfrm>
            <a:off x="297179" y="1736189"/>
            <a:ext cx="8356600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200"/>
              <a:t>O mercado brasileiro de veículos eletrificados vem apresentando crescimento e transformações significativas, impulsionadas pela expansão dos </a:t>
            </a:r>
            <a:r>
              <a:rPr lang="pt-BR" sz="2200" b="1">
                <a:solidFill>
                  <a:schemeClr val="bg2"/>
                </a:solidFill>
              </a:rPr>
              <a:t>veículos elétricos e híbridos</a:t>
            </a:r>
            <a:r>
              <a:rPr lang="pt-BR" sz="2200"/>
              <a:t> e pela entrada de novos fabricantes.</a:t>
            </a:r>
          </a:p>
          <a:p>
            <a:endParaRPr lang="pt-BR" sz="2200"/>
          </a:p>
          <a:p>
            <a:r>
              <a:rPr lang="pt-BR" sz="2200"/>
              <a:t>Entretanto, a grande quantidade de informações distribuídas em diferentes segmentos e períodos dificulta a identificação das </a:t>
            </a:r>
            <a:r>
              <a:rPr lang="pt-BR" sz="2200" b="1">
                <a:solidFill>
                  <a:schemeClr val="bg2"/>
                </a:solidFill>
              </a:rPr>
              <a:t>principais tendências do setor</a:t>
            </a:r>
            <a:r>
              <a:rPr lang="pt-BR" sz="2200"/>
              <a:t>.</a:t>
            </a:r>
          </a:p>
          <a:p>
            <a:endParaRPr lang="pt-BR" sz="2200"/>
          </a:p>
          <a:p>
            <a:r>
              <a:rPr lang="pt-BR" sz="2200"/>
              <a:t> Nesse contexto, torna-se necessário </a:t>
            </a:r>
            <a:r>
              <a:rPr lang="pt-BR" sz="2200" b="1">
                <a:solidFill>
                  <a:schemeClr val="bg2"/>
                </a:solidFill>
              </a:rPr>
              <a:t>organizar e visualizar os dados</a:t>
            </a:r>
            <a:r>
              <a:rPr lang="pt-BR" sz="2200">
                <a:solidFill>
                  <a:schemeClr val="tx1"/>
                </a:solidFill>
              </a:rPr>
              <a:t> </a:t>
            </a:r>
            <a:r>
              <a:rPr lang="pt-BR" sz="2200"/>
              <a:t>de forma integrada para apoiar análises mais claras e objetivas.</a:t>
            </a:r>
          </a:p>
          <a:p>
            <a:endParaRPr lang="pt-BR" sz="2200"/>
          </a:p>
          <a:p>
            <a:endParaRPr lang="pt-BR"/>
          </a:p>
        </p:txBody>
      </p:sp>
      <p:pic>
        <p:nvPicPr>
          <p:cNvPr id="32" name="Google Shape;45;p1">
            <a:extLst>
              <a:ext uri="{FF2B5EF4-FFF2-40B4-BE49-F238E27FC236}">
                <a16:creationId xmlns:a16="http://schemas.microsoft.com/office/drawing/2014/main" id="{BBF53B1D-4B1E-2A0D-1F9E-ABE35D50C6C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78101" y="221122"/>
            <a:ext cx="11049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1936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DF19144F-585A-B4CB-2E32-B717A0A33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>
            <a:extLst>
              <a:ext uri="{FF2B5EF4-FFF2-40B4-BE49-F238E27FC236}">
                <a16:creationId xmlns:a16="http://schemas.microsoft.com/office/drawing/2014/main" id="{9B59ED83-83FF-5261-DDCE-0E8668770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179" y="1920030"/>
            <a:ext cx="9110869" cy="2705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/>
            <a:r>
              <a:rPr lang="pt-BR" sz="2200" b="0"/>
              <a:t>Desenvolver um </a:t>
            </a:r>
            <a:r>
              <a:rPr lang="pt-BR" sz="2200" b="0">
                <a:solidFill>
                  <a:schemeClr val="bg2"/>
                </a:solidFill>
              </a:rPr>
              <a:t>dashboard interativo</a:t>
            </a:r>
            <a:r>
              <a:rPr lang="pt-BR" sz="2200" b="0"/>
              <a:t> para organizar, visualizar e analisar dados referentes à evolução e à participação dos </a:t>
            </a:r>
            <a:r>
              <a:rPr lang="pt-BR" sz="2200" b="0">
                <a:solidFill>
                  <a:schemeClr val="bg2"/>
                </a:solidFill>
              </a:rPr>
              <a:t>veículos elétricos e híbridos</a:t>
            </a:r>
            <a:r>
              <a:rPr lang="pt-BR" sz="2200" b="0"/>
              <a:t> no mercado brasileiro de veículos novos, considerando diferentes </a:t>
            </a:r>
            <a:r>
              <a:rPr lang="pt-BR" sz="2200" b="0">
                <a:solidFill>
                  <a:schemeClr val="bg2"/>
                </a:solidFill>
              </a:rPr>
              <a:t>períodos, segmentos e fabricantes</a:t>
            </a:r>
            <a:r>
              <a:rPr lang="pt-BR" sz="2200" b="0"/>
              <a:t>. </a:t>
            </a:r>
            <a:br>
              <a:rPr lang="pt-BR" sz="2200" b="0"/>
            </a:br>
            <a:br>
              <a:rPr lang="pt-BR" sz="2200" b="0"/>
            </a:br>
            <a:r>
              <a:rPr lang="pt-BR" sz="2200" b="0"/>
              <a:t>A solução busca facilitar a interpretação das informações e a identificação das </a:t>
            </a:r>
            <a:r>
              <a:rPr lang="pt-BR" sz="2200" b="0">
                <a:solidFill>
                  <a:schemeClr val="bg2"/>
                </a:solidFill>
              </a:rPr>
              <a:t>principais tendências do setor automotivo</a:t>
            </a:r>
            <a:r>
              <a:rPr lang="pt-BR" sz="2200" b="0"/>
              <a:t>.</a:t>
            </a:r>
            <a:br>
              <a:rPr lang="pt-BR" b="0"/>
            </a:br>
            <a:endParaRPr sz="210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189071A-A3B6-6AF2-F4AB-B1F4C520E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19" y="6364255"/>
            <a:ext cx="9211961" cy="46679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7101B19-3360-EC26-6CA9-482D22CFA0C4}"/>
              </a:ext>
            </a:extLst>
          </p:cNvPr>
          <p:cNvSpPr txBox="1"/>
          <p:nvPr/>
        </p:nvSpPr>
        <p:spPr>
          <a:xfrm>
            <a:off x="297179" y="1109218"/>
            <a:ext cx="3132589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BR" sz="2600" b="1">
                <a:solidFill>
                  <a:schemeClr val="bg2"/>
                </a:solidFill>
              </a:rPr>
              <a:t>OBJETIVO GERAL</a:t>
            </a:r>
          </a:p>
          <a:p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CF85681E-3941-38A1-4C20-3B895F870EFD}"/>
              </a:ext>
            </a:extLst>
          </p:cNvPr>
          <p:cNvCxnSpPr>
            <a:cxnSpLocks/>
          </p:cNvCxnSpPr>
          <p:nvPr/>
        </p:nvCxnSpPr>
        <p:spPr>
          <a:xfrm>
            <a:off x="316539" y="1544441"/>
            <a:ext cx="3113229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8" name="Google Shape;45;p1">
            <a:extLst>
              <a:ext uri="{FF2B5EF4-FFF2-40B4-BE49-F238E27FC236}">
                <a16:creationId xmlns:a16="http://schemas.microsoft.com/office/drawing/2014/main" id="{2F518A01-5D25-2C6C-8C5F-4702CBDF38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78101" y="221122"/>
            <a:ext cx="11049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086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52B9E710-CB87-F0FC-14DA-2C86F9A43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>
            <a:extLst>
              <a:ext uri="{FF2B5EF4-FFF2-40B4-BE49-F238E27FC236}">
                <a16:creationId xmlns:a16="http://schemas.microsoft.com/office/drawing/2014/main" id="{6040077C-A3F8-C775-8410-EED9B4EEEA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1082" y="1819929"/>
            <a:ext cx="8949131" cy="2920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normAutofit fontScale="90000" lnSpcReduction="10000"/>
          </a:bodyPr>
          <a:lstStyle/>
          <a:p>
            <a:pPr marL="12700" lvl="0"/>
            <a:r>
              <a:rPr lang="pt-BR" sz="1900" b="0"/>
              <a:t>Mapear a evolução mensal dos emplacamentos de veículos elétricos e híbridos no Brasil entre 2022 e 2026, por segmento (Autos e Comerciais Leves) e categoria de veículo.</a:t>
            </a:r>
            <a:br>
              <a:rPr lang="pt-BR" sz="1900" b="0"/>
            </a:br>
            <a:br>
              <a:rPr lang="pt-BR" sz="1900" b="0"/>
            </a:br>
            <a:r>
              <a:rPr lang="pt-BR" sz="1900" b="0"/>
              <a:t>Comparar a participação de marcas e modelos no mercado de eletrificados ao longo do tempo, identificando os principais pontos de virada do setor (ex.: entrada da BYD, início da publicação oficial da categoria "Eletrificados" pela Fenabrave em jan/2024).</a:t>
            </a:r>
            <a:br>
              <a:rPr lang="pt-BR" sz="1900" b="0"/>
            </a:br>
            <a:br>
              <a:rPr lang="pt-BR" sz="1900" b="0"/>
            </a:br>
            <a:r>
              <a:rPr lang="pt-BR" sz="1900" b="0"/>
              <a:t>Relacionar o crescimento do mercado de eletrificados à faixa de motorização dos veículos, evidenciando tendências de adoção tecnológica no setor automotivo brasileiro.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60EEC03-7488-CC4B-DAA3-4C672A558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19" y="6364255"/>
            <a:ext cx="9211961" cy="46679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1A01AAE-E5C3-39C3-BAC5-74F536A46DBF}"/>
              </a:ext>
            </a:extLst>
          </p:cNvPr>
          <p:cNvSpPr txBox="1"/>
          <p:nvPr/>
        </p:nvSpPr>
        <p:spPr>
          <a:xfrm>
            <a:off x="297179" y="1109218"/>
            <a:ext cx="4432624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BR" sz="2600" b="1">
                <a:solidFill>
                  <a:schemeClr val="bg2"/>
                </a:solidFill>
              </a:rPr>
              <a:t>OBJETIVOS ESPECÍFICOS</a:t>
            </a:r>
          </a:p>
          <a:p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86C7D730-519E-2FC8-EA54-011AEE6B0C1E}"/>
              </a:ext>
            </a:extLst>
          </p:cNvPr>
          <p:cNvCxnSpPr>
            <a:cxnSpLocks/>
          </p:cNvCxnSpPr>
          <p:nvPr/>
        </p:nvCxnSpPr>
        <p:spPr>
          <a:xfrm>
            <a:off x="316539" y="1544441"/>
            <a:ext cx="4413264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8" name="Google Shape;45;p1">
            <a:extLst>
              <a:ext uri="{FF2B5EF4-FFF2-40B4-BE49-F238E27FC236}">
                <a16:creationId xmlns:a16="http://schemas.microsoft.com/office/drawing/2014/main" id="{490D44DF-8DAB-9095-6511-D1222899BE5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78101" y="221122"/>
            <a:ext cx="11049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3271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47812724-5385-9D7B-F519-7CAF3D0E4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>
            <a:extLst>
              <a:ext uri="{FF2B5EF4-FFF2-40B4-BE49-F238E27FC236}">
                <a16:creationId xmlns:a16="http://schemas.microsoft.com/office/drawing/2014/main" id="{95E40A83-7F26-BB81-0F02-96909AECD3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9777" y="1819929"/>
            <a:ext cx="8907829" cy="98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/>
            <a:r>
              <a:rPr lang="pt-BR" sz="2100" b="0"/>
              <a:t>Este estudo tem por objetivo, mensurar os dados pertinentes a utilização de veículos eletrificados (híbridos e totalmente elétricos), buscando demonstrar a relevância tecnológica, econômica, social e ambiental.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E1D9879-A3C7-589D-F764-1AE51E857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19" y="6364255"/>
            <a:ext cx="9211961" cy="466790"/>
          </a:xfrm>
          <a:prstGeom prst="rect">
            <a:avLst/>
          </a:prstGeom>
        </p:spPr>
      </p:pic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108B1288-234E-3937-87D9-E3D8D2C68BCF}"/>
              </a:ext>
            </a:extLst>
          </p:cNvPr>
          <p:cNvCxnSpPr>
            <a:cxnSpLocks/>
          </p:cNvCxnSpPr>
          <p:nvPr/>
        </p:nvCxnSpPr>
        <p:spPr>
          <a:xfrm>
            <a:off x="316539" y="1544441"/>
            <a:ext cx="4758227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02FE124F-C51E-0ED3-AFB8-33C1B32DB160}"/>
              </a:ext>
            </a:extLst>
          </p:cNvPr>
          <p:cNvSpPr txBox="1"/>
          <p:nvPr/>
        </p:nvSpPr>
        <p:spPr>
          <a:xfrm>
            <a:off x="257422" y="1117768"/>
            <a:ext cx="4817344" cy="49244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BR" sz="2600" b="1">
                <a:solidFill>
                  <a:schemeClr val="bg2"/>
                </a:solidFill>
              </a:rPr>
              <a:t>IMPORTÂNCIA DO PROJETO</a:t>
            </a:r>
          </a:p>
        </p:txBody>
      </p:sp>
      <p:pic>
        <p:nvPicPr>
          <p:cNvPr id="8" name="Google Shape;45;p1">
            <a:extLst>
              <a:ext uri="{FF2B5EF4-FFF2-40B4-BE49-F238E27FC236}">
                <a16:creationId xmlns:a16="http://schemas.microsoft.com/office/drawing/2014/main" id="{2E2199A1-59A5-5DBF-3284-A9B5345544B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78101" y="221122"/>
            <a:ext cx="11049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aixaDeTexto 4">
            <a:extLst>
              <a:ext uri="{FF2B5EF4-FFF2-40B4-BE49-F238E27FC236}">
                <a16:creationId xmlns:a16="http://schemas.microsoft.com/office/drawing/2014/main" id="{EA707BB2-0800-BF98-F268-8BB91D3417C4}"/>
              </a:ext>
            </a:extLst>
          </p:cNvPr>
          <p:cNvSpPr txBox="1"/>
          <p:nvPr/>
        </p:nvSpPr>
        <p:spPr>
          <a:xfrm>
            <a:off x="257422" y="3430775"/>
            <a:ext cx="3467616" cy="49244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2600" b="1">
                <a:solidFill>
                  <a:schemeClr val="bg2"/>
                </a:solidFill>
              </a:rPr>
              <a:t>PRÓXIMOS PASSOS</a:t>
            </a:r>
          </a:p>
        </p:txBody>
      </p:sp>
      <p:sp>
        <p:nvSpPr>
          <p:cNvPr id="6" name="Google Shape;44;p1">
            <a:extLst>
              <a:ext uri="{FF2B5EF4-FFF2-40B4-BE49-F238E27FC236}">
                <a16:creationId xmlns:a16="http://schemas.microsoft.com/office/drawing/2014/main" id="{6122D6F8-EB7B-5610-21D1-0AA6CF625586}"/>
              </a:ext>
            </a:extLst>
          </p:cNvPr>
          <p:cNvSpPr txBox="1">
            <a:spLocks noGrp="1"/>
          </p:cNvSpPr>
          <p:nvPr/>
        </p:nvSpPr>
        <p:spPr>
          <a:xfrm>
            <a:off x="0" y="4222427"/>
            <a:ext cx="9906000" cy="335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algn="ctr"/>
            <a:r>
              <a:rPr lang="pt-BR" sz="2100" b="0"/>
              <a:t>Consolidar uma base de dados universal para futuras referências.</a:t>
            </a:r>
          </a:p>
        </p:txBody>
      </p:sp>
    </p:spTree>
    <p:extLst>
      <p:ext uri="{BB962C8B-B14F-4D97-AF65-F5344CB8AC3E}">
        <p14:creationId xmlns:p14="http://schemas.microsoft.com/office/powerpoint/2010/main" val="41720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B510550F-8A2E-E61B-0216-B36BB2074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>
            <a:extLst>
              <a:ext uri="{FF2B5EF4-FFF2-40B4-BE49-F238E27FC236}">
                <a16:creationId xmlns:a16="http://schemas.microsoft.com/office/drawing/2014/main" id="{20EDE578-E456-8E7F-30C2-B04987AB6F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331" y="1819929"/>
            <a:ext cx="9208765" cy="3705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r>
              <a:rPr lang="pt-BR" sz="1200" b="0"/>
              <a:t>ASSOCIAÇÃO BRASILEIRA DO VEÍCULO ELÉTRICO (ABVE). </a:t>
            </a:r>
            <a:r>
              <a:rPr lang="pt-BR" sz="1200" b="0" i="1"/>
              <a:t>2020: o melhor ano da eletromobilidade no Brasil</a:t>
            </a:r>
            <a:r>
              <a:rPr lang="pt-BR" sz="1200" b="0"/>
              <a:t>. São Paulo: ABVE, [2021]. Disponível em: </a:t>
            </a:r>
            <a:r>
              <a:rPr lang="pt-BR" sz="1200" b="0">
                <a:hlinkClick r:id="rId3"/>
              </a:rPr>
              <a:t>https://www.abve.org.br/2020-o-melhor-ano-da-eletromobilidade-no-brasil/</a:t>
            </a:r>
            <a:r>
              <a:rPr lang="pt-BR" sz="1200" b="0"/>
              <a:t>. Acesso em: 18 ago. 2026.</a:t>
            </a:r>
            <a:endParaRPr lang="en-US" sz="1200"/>
          </a:p>
          <a:p>
            <a:r>
              <a:rPr lang="pt-BR" sz="1200" b="0"/>
              <a:t>ASSOCIAÇÃO BRASILEIRA DO VEÍCULO ELÉTRICO (ABVE). </a:t>
            </a:r>
            <a:r>
              <a:rPr lang="pt-BR" sz="1200" b="0" i="1"/>
              <a:t>ABVE Data</a:t>
            </a:r>
            <a:r>
              <a:rPr lang="pt-BR" sz="1200" b="0"/>
              <a:t>. São Paulo: ABVE, [20--]. Disponível em: </a:t>
            </a:r>
            <a:r>
              <a:rPr lang="pt-BR" sz="1200" b="0">
                <a:hlinkClick r:id="rId4"/>
              </a:rPr>
              <a:t>https://abve.org.br/abve-data/</a:t>
            </a:r>
            <a:r>
              <a:rPr lang="pt-BR" sz="1200" b="0"/>
              <a:t>. Acesso em: 18 ago. 2026.</a:t>
            </a:r>
            <a:br>
              <a:rPr lang="pt-BR" sz="1200" b="0"/>
            </a:br>
            <a:endParaRPr lang="pt-BR" sz="1200"/>
          </a:p>
          <a:p>
            <a:r>
              <a:rPr lang="pt-BR" sz="1200" b="0"/>
              <a:t>CERQUEIRA, Pedro. Brasil emplacou quase 50 mil veículos híbridos e elétricos em 2022. </a:t>
            </a:r>
            <a:r>
              <a:rPr lang="pt-BR" sz="1200" b="0" i="1" err="1"/>
              <a:t>Vrum</a:t>
            </a:r>
            <a:r>
              <a:rPr lang="pt-BR" sz="1200" b="0"/>
              <a:t>, [S. l.], 12 jan. 2023. Disponível em: </a:t>
            </a:r>
            <a:r>
              <a:rPr lang="pt-BR" sz="1200" b="0">
                <a:hlinkClick r:id="rId5"/>
              </a:rPr>
              <a:t>https://www.vrum.com.br/noticias/emplacamentos-hibridos-eletricos-2022/</a:t>
            </a:r>
            <a:r>
              <a:rPr lang="pt-BR" sz="1200" b="0"/>
              <a:t>. Acesso em: 18 ago. 2026.</a:t>
            </a:r>
            <a:br>
              <a:rPr lang="pt-BR" sz="1200" b="0"/>
            </a:br>
            <a:endParaRPr lang="pt-BR" sz="1200"/>
          </a:p>
          <a:p>
            <a:r>
              <a:rPr lang="pt-BR" sz="1200" b="0"/>
              <a:t>FENABRAVE – FEDERAÇÃO NACIONAL DA DISTRIBUIÇÃO DE VEÍCULOS AUTOMOTORES. </a:t>
            </a:r>
            <a:r>
              <a:rPr lang="pt-BR" sz="1200" b="0" i="1"/>
              <a:t>Informativo – Emplacamentos</a:t>
            </a:r>
            <a:r>
              <a:rPr lang="pt-BR" sz="1200" b="0"/>
              <a:t>: boletim mensal de emplacamento de autoveículos. São Paulo: Fenabrave, 2022-2026. 55 edições (jan. 2022 a jul. 2026). Disponível em: </a:t>
            </a:r>
            <a:r>
              <a:rPr lang="pt-BR" sz="1200" b="0">
                <a:hlinkClick r:id="rId6"/>
              </a:rPr>
              <a:t>https://www.fenabrave.org.br/portalv2/Conteudo/emplacamentos</a:t>
            </a:r>
            <a:r>
              <a:rPr lang="pt-BR" sz="1200" b="0"/>
              <a:t>. Acesso em: 18 ago. 2026.</a:t>
            </a:r>
            <a:br>
              <a:rPr lang="pt-BR" sz="1200" b="0"/>
            </a:br>
            <a:endParaRPr lang="pt-BR" sz="1200"/>
          </a:p>
          <a:p>
            <a:r>
              <a:rPr lang="pt-BR" sz="1200" b="0"/>
              <a:t>GUEDES, </a:t>
            </a:r>
            <a:r>
              <a:rPr lang="pt-BR" sz="1200" b="0" err="1"/>
              <a:t>Geison</a:t>
            </a:r>
            <a:r>
              <a:rPr lang="pt-BR" sz="1200" b="0"/>
              <a:t>. Emplacamentos de veículos eletrificados crescem mais de 25% em 2025. </a:t>
            </a:r>
            <a:r>
              <a:rPr lang="pt-BR" sz="1200" b="0" i="1"/>
              <a:t>Diário do Poder</a:t>
            </a:r>
            <a:r>
              <a:rPr lang="pt-BR" sz="1200" b="0"/>
              <a:t>, [S. l.], 7 jan. 2026. Disponível em: </a:t>
            </a:r>
            <a:r>
              <a:rPr lang="pt-BR" sz="1200" b="0">
                <a:hlinkClick r:id="rId7"/>
              </a:rPr>
              <a:t>https://diariodopoder.com.br/diario-motor/emplacamentos-de-veiculos-eletrificados-crescem-mais-de-25-em-2025</a:t>
            </a:r>
            <a:r>
              <a:rPr lang="pt-BR" sz="1200" b="0"/>
              <a:t>. Acesso em: 18 ago. 2026.</a:t>
            </a:r>
            <a:br>
              <a:rPr lang="pt-BR" sz="1200" b="0"/>
            </a:br>
            <a:endParaRPr lang="pt-BR" sz="1200"/>
          </a:p>
          <a:p>
            <a:r>
              <a:rPr lang="pt-BR" sz="1200" b="0"/>
              <a:t>ZERBINATO, Alexandre. Venda de eletrificados cresce 6 vezes mais que o mercado automotivo. </a:t>
            </a:r>
            <a:r>
              <a:rPr lang="pt-BR" sz="1200" b="0" i="1"/>
              <a:t>CNN Brasil</a:t>
            </a:r>
            <a:r>
              <a:rPr lang="pt-BR" sz="1200" b="0"/>
              <a:t>, [S. l.], 7 jul. 2026. Disponível em: </a:t>
            </a:r>
            <a:r>
              <a:rPr lang="pt-BR" sz="1200" b="0">
                <a:hlinkClick r:id="rId8"/>
              </a:rPr>
              <a:t>https://www.cnnbrasil.com.br/auto/venda-de-eletrificados-cresce-6-vezes-mais-que-o-mercado-automotivo/</a:t>
            </a:r>
            <a:r>
              <a:rPr lang="pt-BR" sz="1200" b="0"/>
              <a:t>. Acesso em: 18 ago. 2026.</a:t>
            </a:r>
            <a:endParaRPr lang="pt-BR" sz="1200"/>
          </a:p>
          <a:p>
            <a:pPr marL="12700" lvl="0"/>
            <a:endParaRPr lang="pt-BR" sz="120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7D935DF-50AF-0FC2-6E22-4D88E71228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019" y="6364255"/>
            <a:ext cx="9211961" cy="466790"/>
          </a:xfrm>
          <a:prstGeom prst="rect">
            <a:avLst/>
          </a:prstGeom>
        </p:spPr>
      </p:pic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61760107-D219-F3EC-4AB0-EA9BD63837A7}"/>
              </a:ext>
            </a:extLst>
          </p:cNvPr>
          <p:cNvCxnSpPr>
            <a:cxnSpLocks/>
          </p:cNvCxnSpPr>
          <p:nvPr/>
        </p:nvCxnSpPr>
        <p:spPr>
          <a:xfrm>
            <a:off x="316539" y="1544441"/>
            <a:ext cx="3408499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0FC0E65E-1369-BD2B-97C0-850F1715BB87}"/>
              </a:ext>
            </a:extLst>
          </p:cNvPr>
          <p:cNvSpPr txBox="1"/>
          <p:nvPr/>
        </p:nvSpPr>
        <p:spPr>
          <a:xfrm>
            <a:off x="257422" y="1117768"/>
            <a:ext cx="2574744" cy="49244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BR" sz="2600" b="1">
                <a:solidFill>
                  <a:schemeClr val="bg2"/>
                </a:solidFill>
              </a:rPr>
              <a:t>REFERÊNCIAS</a:t>
            </a:r>
            <a:endParaRPr lang="en-US"/>
          </a:p>
        </p:txBody>
      </p:sp>
      <p:pic>
        <p:nvPicPr>
          <p:cNvPr id="9" name="Google Shape;45;p1">
            <a:extLst>
              <a:ext uri="{FF2B5EF4-FFF2-40B4-BE49-F238E27FC236}">
                <a16:creationId xmlns:a16="http://schemas.microsoft.com/office/drawing/2014/main" id="{4F2C4FDF-071D-F6CE-A31E-3CEBC40897E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78101" y="221122"/>
            <a:ext cx="11049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2994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DF19144F-585A-B4CB-2E32-B717A0A33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>
            <a:extLst>
              <a:ext uri="{FF2B5EF4-FFF2-40B4-BE49-F238E27FC236}">
                <a16:creationId xmlns:a16="http://schemas.microsoft.com/office/drawing/2014/main" id="{9B59ED83-83FF-5261-DDCE-0E8668770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179" y="1920030"/>
            <a:ext cx="9110869" cy="2705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normAutofit fontScale="90000" lnSpcReduction="10000"/>
          </a:bodyPr>
          <a:lstStyle/>
          <a:p>
            <a:pPr marL="12700" lvl="0"/>
            <a:r>
              <a:rPr lang="pt-BR" sz="1900" b="0"/>
              <a:t>Um dashboard interativo, desenvolvido em Streamlit, que permita visualizar a evolução mensal e anual dos emplacamentos de veículos elétricos e híbridos no Brasil (2022–2026).</a:t>
            </a:r>
            <a:br>
              <a:rPr lang="pt-BR" sz="1900" b="0"/>
            </a:br>
            <a:br>
              <a:rPr lang="pt-BR" sz="1900" b="0"/>
            </a:br>
            <a:r>
              <a:rPr lang="pt-BR" sz="1900" b="0"/>
              <a:t>Comparativos de participação por marca, modelo, categoria de veículo e motorização, segmentados por período, com destaque para os principais marcos do setor.</a:t>
            </a:r>
            <a:br>
              <a:rPr lang="pt-BR" sz="1900" b="0"/>
            </a:br>
            <a:br>
              <a:rPr lang="pt-BR" sz="1900" b="0"/>
            </a:br>
            <a:r>
              <a:rPr lang="pt-BR" sz="1900" b="0"/>
              <a:t>Uma base de dados estruturada em modelo estrela, validada e documentada, reutilizável para análises futuras do mercado automotivo brasileiro.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189071A-A3B6-6AF2-F4AB-B1F4C520E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19" y="6364255"/>
            <a:ext cx="9211961" cy="46679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7101B19-3360-EC26-6CA9-482D22CFA0C4}"/>
              </a:ext>
            </a:extLst>
          </p:cNvPr>
          <p:cNvSpPr txBox="1"/>
          <p:nvPr/>
        </p:nvSpPr>
        <p:spPr>
          <a:xfrm>
            <a:off x="297179" y="1109218"/>
            <a:ext cx="5749744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BR" sz="2600" b="1">
                <a:solidFill>
                  <a:schemeClr val="bg2"/>
                </a:solidFill>
              </a:rPr>
              <a:t>RESULTADOS ESPERADOS</a:t>
            </a:r>
          </a:p>
          <a:p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CF85681E-3941-38A1-4C20-3B895F870EFD}"/>
              </a:ext>
            </a:extLst>
          </p:cNvPr>
          <p:cNvCxnSpPr>
            <a:cxnSpLocks/>
          </p:cNvCxnSpPr>
          <p:nvPr/>
        </p:nvCxnSpPr>
        <p:spPr>
          <a:xfrm>
            <a:off x="316539" y="1544441"/>
            <a:ext cx="3113229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8" name="Google Shape;45;p1">
            <a:extLst>
              <a:ext uri="{FF2B5EF4-FFF2-40B4-BE49-F238E27FC236}">
                <a16:creationId xmlns:a16="http://schemas.microsoft.com/office/drawing/2014/main" id="{2F518A01-5D25-2C6C-8C5F-4702CBDF38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78101" y="221122"/>
            <a:ext cx="11049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0866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DF19144F-585A-B4CB-2E32-B717A0A33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>
            <a:extLst>
              <a:ext uri="{FF2B5EF4-FFF2-40B4-BE49-F238E27FC236}">
                <a16:creationId xmlns:a16="http://schemas.microsoft.com/office/drawing/2014/main" id="{9B59ED83-83FF-5261-DDCE-0E8668770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179" y="1920030"/>
            <a:ext cx="9110869" cy="2705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normAutofit fontScale="90000" lnSpcReduction="10000"/>
          </a:bodyPr>
          <a:lstStyle/>
          <a:p>
            <a:pPr marL="12700" lvl="0"/>
            <a:r>
              <a:rPr lang="pt-BR" sz="1700" b="0"/>
              <a:t>Viabilidade técnica e econômica: os dados utilizados são públicos e gratuitos (boletins mensais da Fenabrave), sem custo de aquisição. O processamento é viável em computador comum, com bibliotecas Python de código aberto. O principal risco técnico identificado — mudanças no layout dos boletins entre 2022 e 2026 — já foi mapeado e tratado na etapa de extração dos dados.</a:t>
            </a:r>
            <a:br>
              <a:rPr lang="pt-BR" sz="1700" b="0"/>
            </a:br>
            <a:br>
              <a:rPr lang="pt-BR" sz="1700" b="0"/>
            </a:br>
            <a:r>
              <a:rPr lang="pt-BR" sz="1700" b="0"/>
              <a:t>Tecnologias utilizadas: Python (pandas, pdfplumber e OCR para extração e tratamento dos dados), Streamlit para o desenvolvimento do dashboard low code, Scrum para a gestão ágil do projeto e GitHub como repositório de código.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189071A-A3B6-6AF2-F4AB-B1F4C520E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19" y="6364255"/>
            <a:ext cx="9211961" cy="46679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7101B19-3360-EC26-6CA9-482D22CFA0C4}"/>
              </a:ext>
            </a:extLst>
          </p:cNvPr>
          <p:cNvSpPr txBox="1"/>
          <p:nvPr/>
        </p:nvSpPr>
        <p:spPr>
          <a:xfrm>
            <a:off x="297179" y="1109218"/>
            <a:ext cx="7127744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BR" sz="2600" b="1">
                <a:solidFill>
                  <a:schemeClr val="bg2"/>
                </a:solidFill>
              </a:rPr>
              <a:t>VIABILIDADE E TECNOLOGIAS</a:t>
            </a:r>
          </a:p>
          <a:p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CF85681E-3941-38A1-4C20-3B895F870EFD}"/>
              </a:ext>
            </a:extLst>
          </p:cNvPr>
          <p:cNvCxnSpPr>
            <a:cxnSpLocks/>
          </p:cNvCxnSpPr>
          <p:nvPr/>
        </p:nvCxnSpPr>
        <p:spPr>
          <a:xfrm>
            <a:off x="316539" y="1544441"/>
            <a:ext cx="3113229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8" name="Google Shape;45;p1">
            <a:extLst>
              <a:ext uri="{FF2B5EF4-FFF2-40B4-BE49-F238E27FC236}">
                <a16:creationId xmlns:a16="http://schemas.microsoft.com/office/drawing/2014/main" id="{2F518A01-5D25-2C6C-8C5F-4702CBDF38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78101" y="221122"/>
            <a:ext cx="11049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0866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DF19144F-585A-B4CB-2E32-B717A0A33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>
            <a:extLst>
              <a:ext uri="{FF2B5EF4-FFF2-40B4-BE49-F238E27FC236}">
                <a16:creationId xmlns:a16="http://schemas.microsoft.com/office/drawing/2014/main" id="{9B59ED83-83FF-5261-DDCE-0E8668770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179" y="1920030"/>
            <a:ext cx="9110869" cy="2705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normAutofit fontScale="90000" lnSpcReduction="10000"/>
          </a:bodyPr>
          <a:lstStyle/>
          <a:p>
            <a:pPr marL="12700" lvl="0"/>
            <a:r>
              <a:rPr lang="pt-BR" sz="1700" b="0"/>
              <a:t>Atividades do projeto: extração e estruturação dos dados brutos; modelagem em esquema estrela; validação da fonte de dados; construção do protótipo de visualizações; desenvolvimento da aplicação em Streamlit; publicação no repositório.</a:t>
            </a:r>
            <a:br>
              <a:rPr lang="pt-BR" sz="1700" b="0"/>
            </a:br>
            <a:br>
              <a:rPr lang="pt-BR" sz="1700" b="0"/>
            </a:br>
            <a:r>
              <a:rPr lang="pt-BR" sz="1700" b="0"/>
              <a:t>Backlog do produto (itens priorizados): visualizar a evolução mensal de eletrificados por segmento; comparar marcas e modelos ao longo do tempo; filtrar por período, segmento e motorização; identificar os pontos de virada do mercado.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189071A-A3B6-6AF2-F4AB-B1F4C520E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19" y="6364255"/>
            <a:ext cx="9211961" cy="46679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7101B19-3360-EC26-6CA9-482D22CFA0C4}"/>
              </a:ext>
            </a:extLst>
          </p:cNvPr>
          <p:cNvSpPr txBox="1"/>
          <p:nvPr/>
        </p:nvSpPr>
        <p:spPr>
          <a:xfrm>
            <a:off x="297179" y="1109218"/>
            <a:ext cx="5749744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BR" sz="2600" b="1">
                <a:solidFill>
                  <a:schemeClr val="bg2"/>
                </a:solidFill>
              </a:rPr>
              <a:t>ATIVIDADES E BACKLOG</a:t>
            </a:r>
          </a:p>
          <a:p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CF85681E-3941-38A1-4C20-3B895F870EFD}"/>
              </a:ext>
            </a:extLst>
          </p:cNvPr>
          <p:cNvCxnSpPr>
            <a:cxnSpLocks/>
          </p:cNvCxnSpPr>
          <p:nvPr/>
        </p:nvCxnSpPr>
        <p:spPr>
          <a:xfrm>
            <a:off x="316539" y="1544441"/>
            <a:ext cx="3113229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8" name="Google Shape;45;p1">
            <a:extLst>
              <a:ext uri="{FF2B5EF4-FFF2-40B4-BE49-F238E27FC236}">
                <a16:creationId xmlns:a16="http://schemas.microsoft.com/office/drawing/2014/main" id="{2F518A01-5D25-2C6C-8C5F-4702CBDF38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78101" y="221122"/>
            <a:ext cx="11049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0866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DF19144F-585A-B4CB-2E32-B717A0A33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>
            <a:extLst>
              <a:ext uri="{FF2B5EF4-FFF2-40B4-BE49-F238E27FC236}">
                <a16:creationId xmlns:a16="http://schemas.microsoft.com/office/drawing/2014/main" id="{9B59ED83-83FF-5261-DDCE-0E8668770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179" y="1920030"/>
            <a:ext cx="9110869" cy="2705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normAutofit fontScale="90000" lnSpcReduction="10000"/>
          </a:bodyPr>
          <a:lstStyle/>
          <a:p>
            <a:pPr marL="12700" lvl="0"/>
            <a:r>
              <a:rPr lang="pt-BR" sz="1900" b="0"/>
              <a:t>Fonte de dados: 55 boletins mensais "Informativo – Emplacamentos", publicados pela Fenabrave (jan/2022 a jul/2026) — a fonte oficial de dados do setor automotivo brasileiro.</a:t>
            </a:r>
            <a:br>
              <a:rPr lang="pt-BR" sz="1900" b="0"/>
            </a:br>
            <a:br>
              <a:rPr lang="pt-BR" sz="1900" b="0"/>
            </a:br>
            <a:r>
              <a:rPr lang="pt-BR" sz="1900" b="0"/>
              <a:t>Repositório do projeto: [A DEFINIR PELO GRUPO — indicar aqui o link do GitHub/GitLab conforme orientação do professor da disciplina].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189071A-A3B6-6AF2-F4AB-B1F4C520E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19" y="6364255"/>
            <a:ext cx="9211961" cy="46679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7101B19-3360-EC26-6CA9-482D22CFA0C4}"/>
              </a:ext>
            </a:extLst>
          </p:cNvPr>
          <p:cNvSpPr txBox="1"/>
          <p:nvPr/>
        </p:nvSpPr>
        <p:spPr>
          <a:xfrm>
            <a:off x="297179" y="1109218"/>
            <a:ext cx="7954544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BR" sz="2600" b="1">
                <a:solidFill>
                  <a:schemeClr val="bg2"/>
                </a:solidFill>
              </a:rPr>
              <a:t>FONTE DE DADOS E REPOSITÓRIO</a:t>
            </a:r>
          </a:p>
          <a:p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CF85681E-3941-38A1-4C20-3B895F870EFD}"/>
              </a:ext>
            </a:extLst>
          </p:cNvPr>
          <p:cNvCxnSpPr>
            <a:cxnSpLocks/>
          </p:cNvCxnSpPr>
          <p:nvPr/>
        </p:nvCxnSpPr>
        <p:spPr>
          <a:xfrm>
            <a:off x="316539" y="1544441"/>
            <a:ext cx="3113229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8" name="Google Shape;45;p1">
            <a:extLst>
              <a:ext uri="{FF2B5EF4-FFF2-40B4-BE49-F238E27FC236}">
                <a16:creationId xmlns:a16="http://schemas.microsoft.com/office/drawing/2014/main" id="{2F518A01-5D25-2C6C-8C5F-4702CBDF38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78101" y="221122"/>
            <a:ext cx="11049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0866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DF19144F-585A-B4CB-2E32-B717A0A33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>
            <a:extLst>
              <a:ext uri="{FF2B5EF4-FFF2-40B4-BE49-F238E27FC236}">
                <a16:creationId xmlns:a16="http://schemas.microsoft.com/office/drawing/2014/main" id="{9B59ED83-83FF-5261-DDCE-0E8668770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179" y="1920030"/>
            <a:ext cx="9110869" cy="2705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normAutofit fontScale="90000" lnSpcReduction="10000"/>
          </a:bodyPr>
          <a:lstStyle/>
          <a:p>
            <a:pPr marL="12700" lvl="0"/>
            <a:r>
              <a:rPr lang="pt-BR" sz="1600" b="0"/>
              <a:t>Os boletins em PDF são processados por um pipeline em Python: extração de texto por página, com reconhecimento óptico (OCR) como alternativa para arquivos com falhas na camada de texto.</a:t>
            </a:r>
            <a:br>
              <a:rPr lang="pt-BR" sz="1600" b="0"/>
            </a:br>
            <a:br>
              <a:rPr lang="pt-BR" sz="1600" b="0"/>
            </a:br>
            <a:r>
              <a:rPr lang="pt-BR" sz="1600" b="0"/>
              <a:t>As páginas são classificadas pelo título de cada seção — não pela posição fixa — o que torna a extração resistente a mudanças de layout entre as edições de 2022 a 2026.</a:t>
            </a:r>
            <a:br>
              <a:rPr lang="pt-BR" sz="1600" b="0"/>
            </a:br>
            <a:br>
              <a:rPr lang="pt-BR" sz="1600" b="0"/>
            </a:br>
            <a:r>
              <a:rPr lang="pt-BR" sz="1600" b="0"/>
              <a:t>Os dados extraídos são organizados em sete tabelas fato (modelo estrela), sem valores derivados (acumulados ou percentuais), calculados posteriormente na camada de visualização do dashboard.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189071A-A3B6-6AF2-F4AB-B1F4C520E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19" y="6364255"/>
            <a:ext cx="9211961" cy="46679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7101B19-3360-EC26-6CA9-482D22CFA0C4}"/>
              </a:ext>
            </a:extLst>
          </p:cNvPr>
          <p:cNvSpPr txBox="1"/>
          <p:nvPr/>
        </p:nvSpPr>
        <p:spPr>
          <a:xfrm>
            <a:off x="297179" y="1109218"/>
            <a:ext cx="6576544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BR" sz="2600" b="1">
                <a:solidFill>
                  <a:schemeClr val="bg2"/>
                </a:solidFill>
              </a:rPr>
              <a:t>TRANSFORMAÇÃO DOS DADOS</a:t>
            </a:r>
          </a:p>
          <a:p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CF85681E-3941-38A1-4C20-3B895F870EFD}"/>
              </a:ext>
            </a:extLst>
          </p:cNvPr>
          <p:cNvCxnSpPr>
            <a:cxnSpLocks/>
          </p:cNvCxnSpPr>
          <p:nvPr/>
        </p:nvCxnSpPr>
        <p:spPr>
          <a:xfrm>
            <a:off x="316539" y="1544441"/>
            <a:ext cx="3113229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8" name="Google Shape;45;p1">
            <a:extLst>
              <a:ext uri="{FF2B5EF4-FFF2-40B4-BE49-F238E27FC236}">
                <a16:creationId xmlns:a16="http://schemas.microsoft.com/office/drawing/2014/main" id="{2F518A01-5D25-2C6C-8C5F-4702CBDF38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78101" y="221122"/>
            <a:ext cx="11049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0866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DF19144F-585A-B4CB-2E32-B717A0A33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>
            <a:extLst>
              <a:ext uri="{FF2B5EF4-FFF2-40B4-BE49-F238E27FC236}">
                <a16:creationId xmlns:a16="http://schemas.microsoft.com/office/drawing/2014/main" id="{9B59ED83-83FF-5261-DDCE-0E8668770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179" y="1920030"/>
            <a:ext cx="9311642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normAutofit/>
          </a:bodyPr>
          <a:lstStyle/>
          <a:p>
            <a:pPr marL="12700"/>
            <a:r>
              <a:rPr lang="pt-BR" sz="1400" b="0" i="1"/>
              <a:t>Protótipo de visualização (Streamlit): evolução mensal dos emplacamentos de veículos eletrificados no Brasil, comparando a marca líder atual (BYD) com o total oficial "Eletrificados" publicado pela Fenabrave desde jan/2024.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189071A-A3B6-6AF2-F4AB-B1F4C520E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19" y="6364255"/>
            <a:ext cx="9211961" cy="46679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7101B19-3360-EC26-6CA9-482D22CFA0C4}"/>
              </a:ext>
            </a:extLst>
          </p:cNvPr>
          <p:cNvSpPr txBox="1"/>
          <p:nvPr/>
        </p:nvSpPr>
        <p:spPr>
          <a:xfrm>
            <a:off x="297179" y="1109218"/>
            <a:ext cx="7678944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BR" sz="2600" b="1">
                <a:solidFill>
                  <a:schemeClr val="bg2"/>
                </a:solidFill>
              </a:rPr>
              <a:t>PROTÓTIPO DAS VISUALIZAÇÕES</a:t>
            </a:r>
          </a:p>
          <a:p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CF85681E-3941-38A1-4C20-3B895F870EFD}"/>
              </a:ext>
            </a:extLst>
          </p:cNvPr>
          <p:cNvCxnSpPr>
            <a:cxnSpLocks/>
          </p:cNvCxnSpPr>
          <p:nvPr/>
        </p:nvCxnSpPr>
        <p:spPr>
          <a:xfrm>
            <a:off x="316539" y="1544441"/>
            <a:ext cx="3113229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8" name="Google Shape;45;p1">
            <a:extLst>
              <a:ext uri="{FF2B5EF4-FFF2-40B4-BE49-F238E27FC236}">
                <a16:creationId xmlns:a16="http://schemas.microsoft.com/office/drawing/2014/main" id="{2F518A01-5D25-2C6C-8C5F-4702CBDF38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78101" y="221122"/>
            <a:ext cx="11049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Prototipo Grafic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000" y="2500000"/>
            <a:ext cx="7800000" cy="37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866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999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A4 Paper (210x297 mm)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O projeto analisa a evolução e a participação dos veículos elétricos e híbridos no mercado brasileiro de veículos novos, considerando diferentes períodos, segmentos e fabricantes do setor automotivo.</vt:lpstr>
      <vt:lpstr>PowerPoint Presentation</vt:lpstr>
      <vt:lpstr>Desenvolver um dashboard interativo para organizar, visualizar e analisar dados referentes à evolução e à participação dos veículos elétricos e híbridos no mercado brasileiro de veículos novos, considerando diferentes períodos, segmentos e fabricantes.   A solução busca facilitar a interpretação das informações e a identificação das principais tendências do setor automotivo. </vt:lpstr>
      <vt:lpstr>Avaliar a redução de emissões de gases poluentes e o impacto na qualidade de ar em relação a adoção de veículos eletrificados (Hibridos e Elétricos)?  Analisar os custos e despesas na utilização e manutenção de veículos eletrificados (Hibridos e Elétricos)?  Analisar o impacto em da logistíca reversa, referente aos veículos eletrificados (Hibridos e Elétricos)?</vt:lpstr>
      <vt:lpstr>Este estudo tem por objetivo, mensurar os dados pertinentes a utilização de veículos eletrificados (híbridos e totalmente elétricos), buscando demonstrar a relevância tecnológica, econômica, social e ambiental.</vt:lpstr>
      <vt:lpstr>ASSOCIAÇÃO BRASILEIRA DO VEÍCULO ELÉTRICO (ABVE). 2020: o melhor ano da eletromobilidade no Brasil. São Paulo: ABVE, [2021]. Disponível em: https://www.abve.org.br/2020-o-melhor-ano-da-eletromobilidade-no-brasil/. Acesso em: 18 ago. 2026. ASSOCIAÇÃO BRASILEIRA DO VEÍCULO ELÉTRICO (ABVE). ABVE Data. São Paulo: ABVE, [20--]. Disponível em: https://abve.org.br/abve-data/. Acesso em: 18 ago. 2026.  CERQUEIRA, Pedro. Brasil emplacou quase 50 mil veículos híbridos e elétricos em 2022. Vrum, [S. l.], 12 jan. 2023. Disponível em: https://www.vrum.com.br/noticias/emplacamentos-hibridos-eletricos-2022/. Acesso em: 18 ago. 2026.  FENABRAVE – FEDERAÇÃO NACIONAL DA DISTRIBUIÇÃO DE VEÍCULOS AUTOMOTORES. Informativo – Emplacamentos: boletim mensal de emplacamento de autoveículos. São Paulo: Fenabrave, 2022-2026. 55 edições (jan. 2022 a jul. 2026). Disponível em: https://www.fenabrave.org.br/portalv2/Conteudo/emplacamentos. Acesso em: 18 ago. 2026.  GUEDES, Geison. Emplacamentos de veículos eletrificados crescem mais de 25% em 2025. Diário do Poder, [S. l.], 7 jan. 2026. Disponível em: https://diariodopoder.com.br/diario-motor/emplacamentos-de-veiculos-eletrificados-crescem-mais-de-25-em-2025. Acesso em: 18 ago. 2026.  ZERBINATO, Alexandre. Venda de eletrificados cresce 6 vezes mais que o mercado automotivo. CNN Brasil, [S. l.], 7 jul. 2026. Disponível em: https://www.cnnbrasil.com.br/auto/venda-de-eletrificados-cresce-6-vezes-mais-que-o-mercado-automotivo/. Acesso em: 18 ago. 2026.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Prof. Gustavo Perri Galegale</dc:creator>
  <cp:revision>3</cp:revision>
  <dcterms:created xsi:type="dcterms:W3CDTF">2025-09-05T14:38:43Z</dcterms:created>
  <dcterms:modified xsi:type="dcterms:W3CDTF">2026-09-20T20:38:47Z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2025-06-15T00:00:00Z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2025-09-05T00:00:00Z</vt:filetime>
  </property>
  <property fmtid="{D5CDD505-2E9C-101B-9397-08002B2CF9AE}" pid="5" name="Producer">
    <vt:lpwstr>Microsoft® PowerPoint® para Microsoft 365</vt:lpwstr>
  </property>
</Properties>
</file>